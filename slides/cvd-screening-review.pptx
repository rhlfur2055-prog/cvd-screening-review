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200" b="1">
                <a:solidFill>
                  <a:srgbClr val="1B1F24"/>
                </a:solidFill>
                <a:latin typeface="Malgun Gothic"/>
              </a:defRPr>
            </a:pPr>
            <a:r>
              <a:t>색각 이상 자가 테스트는</a:t>
            </a:r>
          </a:p>
          <a:p>
            <a:pPr>
              <a:spcAft>
                <a:spcPts val="600"/>
              </a:spcAft>
              <a:defRPr sz="4200" b="1">
                <a:solidFill>
                  <a:srgbClr val="1B1F24"/>
                </a:solidFill>
                <a:latin typeface="Malgun Gothic"/>
              </a:defRPr>
            </a:pPr>
            <a:r>
              <a:t>얼마나 믿을 수 있는가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023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555B63"/>
                </a:solidFill>
                <a:latin typeface="Malgun Gothic"/>
              </a:defRPr>
            </a:pPr>
            <a:r>
              <a:t>발표된 유병률·검사 성능 수치를 결합한 양성예측도 분석</a:t>
            </a:r>
          </a:p>
          <a:p>
            <a:pPr>
              <a:spcAft>
                <a:spcPts val="600"/>
              </a:spcAft>
              <a:defRPr sz="2000" b="0">
                <a:solidFill>
                  <a:srgbClr val="555B63"/>
                </a:solidFill>
                <a:latin typeface="Malgun Gothic"/>
              </a:defRPr>
            </a:pPr>
            <a:r>
              <a:t>새 실험 데이터 없음 · 전 계산 재현 가능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B1F24"/>
                </a:solidFill>
                <a:latin typeface="Malgun Gothic"/>
              </a:defRPr>
            </a:pPr>
            <a:r>
              <a:t>질문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0">
                <a:solidFill>
                  <a:srgbClr val="1B1F24"/>
                </a:solidFill>
                <a:latin typeface="Malgun Gothic"/>
              </a:defRPr>
            </a:pPr>
            <a:r>
              <a:t>온라인·앱 색각 테스트가 널리 퍼져 있다.</a:t>
            </a:r>
          </a:p>
          <a:p>
            <a:pPr>
              <a:spcAft>
                <a:spcPts val="600"/>
              </a:spcAft>
              <a:defRPr sz="2400" b="0">
                <a:solidFill>
                  <a:srgbClr val="1B1F24"/>
                </a:solidFill>
                <a:latin typeface="Malgun Gothic"/>
              </a:defRPr>
            </a:pPr>
          </a:p>
          <a:p>
            <a:pPr>
              <a:spcAft>
                <a:spcPts val="600"/>
              </a:spcAft>
              <a:defRPr sz="2400" b="0">
                <a:solidFill>
                  <a:srgbClr val="1B1F24"/>
                </a:solidFill>
                <a:latin typeface="Malgun Gothic"/>
              </a:defRPr>
            </a:pPr>
            <a:r>
              <a:t>유병률이 낮은 집단에서, 알려진 검사 성능으로</a:t>
            </a:r>
          </a:p>
          <a:p>
            <a:pPr>
              <a:spcAft>
                <a:spcPts val="600"/>
              </a:spcAft>
              <a:defRPr sz="2400" b="0">
                <a:solidFill>
                  <a:srgbClr val="1B1F24"/>
                </a:solidFill>
                <a:latin typeface="Malgun Gothic"/>
              </a:defRPr>
            </a:pPr>
            <a:r>
              <a:t>'정상'과 '이상' 결과는 각각 얼마나 믿을 만한가?</a:t>
            </a:r>
          </a:p>
          <a:p>
            <a:pPr>
              <a:spcAft>
                <a:spcPts val="600"/>
              </a:spcAft>
              <a:defRPr sz="2400" b="0">
                <a:solidFill>
                  <a:srgbClr val="1B1F24"/>
                </a:solidFill>
                <a:latin typeface="Malgun Gothic"/>
              </a:defRPr>
            </a:pPr>
          </a:p>
          <a:p>
            <a:pPr>
              <a:spcAft>
                <a:spcPts val="600"/>
              </a:spcAft>
              <a:defRPr sz="2400" b="0">
                <a:solidFill>
                  <a:srgbClr val="1B1F24"/>
                </a:solidFill>
                <a:latin typeface="Malgun Gothic"/>
              </a:defRPr>
            </a:pPr>
            <a:r>
              <a:t>→ 한국 유병률 × 발표된 민감도·특이도 → PPV·NPV·놓침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B1F24"/>
                </a:solidFill>
                <a:latin typeface="Malgun Gothic"/>
              </a:defRPr>
            </a:pPr>
            <a:r>
              <a:t>입력값은 모두 문헌 출처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1B1F24"/>
                </a:solidFill>
                <a:latin typeface="Malgun Gothic"/>
              </a:defRPr>
            </a:pPr>
            <a:r>
              <a:t>한국 성인 유병률  남 6.5% · 여 1.1% · 전체 3.9%  (n=2,686)  — Kim &amp; Ng 2019</a:t>
            </a:r>
          </a:p>
          <a:p>
            <a:pPr>
              <a:spcAft>
                <a:spcPts val="600"/>
              </a:spcAft>
              <a:defRPr sz="2200" b="0">
                <a:solidFill>
                  <a:srgbClr val="1B1F24"/>
                </a:solidFill>
                <a:latin typeface="Malgun Gothic"/>
              </a:defRPr>
            </a:pPr>
            <a:r>
              <a:t>숨은 숫자 판 민감도 약 50%  — Birch 1997</a:t>
            </a:r>
          </a:p>
          <a:p>
            <a:pPr>
              <a:spcAft>
                <a:spcPts val="600"/>
              </a:spcAft>
              <a:defRPr sz="2200" b="0">
                <a:solidFill>
                  <a:srgbClr val="1B1F24"/>
                </a:solidFill>
                <a:latin typeface="Malgun Gothic"/>
              </a:defRPr>
            </a:pPr>
            <a:r>
              <a:t>변환+소실판 민감도 95.5~99%  — Birch 1997</a:t>
            </a:r>
          </a:p>
          <a:p>
            <a:pPr>
              <a:spcAft>
                <a:spcPts val="600"/>
              </a:spcAft>
              <a:defRPr sz="2200" b="0">
                <a:solidFill>
                  <a:srgbClr val="1B1F24"/>
                </a:solidFill>
                <a:latin typeface="Malgun Gothic"/>
              </a:defRPr>
            </a:pPr>
            <a:r>
              <a:t>앱 특이도 최고 95.2% · 최저 54.8%, 민감도 100%  — Sorkin 2016</a:t>
            </a:r>
          </a:p>
          <a:p>
            <a:pPr>
              <a:spcAft>
                <a:spcPts val="600"/>
              </a:spcAft>
              <a:defRPr sz="2200" b="0">
                <a:solidFill>
                  <a:srgbClr val="1B1F24"/>
                </a:solidFill>
                <a:latin typeface="Malgun Gothic"/>
              </a:defRPr>
            </a:pPr>
          </a:p>
          <a:p>
            <a:pPr>
              <a:spcAft>
                <a:spcPts val="600"/>
              </a:spcAft>
              <a:defRPr sz="2200" b="0">
                <a:solidFill>
                  <a:srgbClr val="1B1F24"/>
                </a:solidFill>
                <a:latin typeface="Malgun Gothic"/>
              </a:defRPr>
            </a:pPr>
            <a:r>
              <a:t>가정(†): 인쇄판 특이도 95% — 출처 없음, 명시함</a:t>
            </a:r>
          </a:p>
          <a:p>
            <a:pPr>
              <a:spcAft>
                <a:spcPts val="600"/>
              </a:spcAft>
              <a:defRPr sz="2200" b="0">
                <a:solidFill>
                  <a:srgbClr val="1B1F24"/>
                </a:solidFill>
                <a:latin typeface="Malgun Gothic"/>
              </a:defRPr>
            </a:pPr>
            <a:r>
              <a:t>앱 성능은 이시하라 책자 대비 값(n=80)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B1F24"/>
                </a:solidFill>
                <a:latin typeface="Malgun Gothic"/>
              </a:defRPr>
            </a:pPr>
            <a:r>
              <a:t>결과 1 — 특이도가 낮으면 양성의 대부분이 오경보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1_ppv_vs_specif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524206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82880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B1F24"/>
                </a:solidFill>
                <a:latin typeface="Malgun Gothic"/>
              </a:defRPr>
            </a:pPr>
            <a:r>
              <a:t>앱 특이도 .548</a:t>
            </a:r>
          </a:p>
          <a:p>
            <a:pPr>
              <a:spcAft>
                <a:spcPts val="600"/>
              </a:spcAft>
              <a:defRPr sz="2000" b="0">
                <a:solidFill>
                  <a:srgbClr val="1B1F24"/>
                </a:solidFill>
                <a:latin typeface="Malgun Gothic"/>
              </a:defRPr>
            </a:pPr>
            <a:r>
              <a:t>남성 PPV 13.3%</a:t>
            </a:r>
          </a:p>
          <a:p>
            <a:pPr>
              <a:spcAft>
                <a:spcPts val="600"/>
              </a:spcAft>
              <a:defRPr sz="2000" b="0">
                <a:solidFill>
                  <a:srgbClr val="1B1F24"/>
                </a:solidFill>
                <a:latin typeface="Malgun Gothic"/>
              </a:defRPr>
            </a:pPr>
          </a:p>
          <a:p>
            <a:pPr>
              <a:spcAft>
                <a:spcPts val="600"/>
              </a:spcAft>
              <a:defRPr sz="2000" b="0">
                <a:solidFill>
                  <a:srgbClr val="1B1F24"/>
                </a:solidFill>
                <a:latin typeface="Malgun Gothic"/>
              </a:defRPr>
            </a:pPr>
            <a:r>
              <a:t>앱 특이도 .952</a:t>
            </a:r>
          </a:p>
          <a:p>
            <a:pPr>
              <a:spcAft>
                <a:spcPts val="600"/>
              </a:spcAft>
              <a:defRPr sz="2000" b="0">
                <a:solidFill>
                  <a:srgbClr val="1B1F24"/>
                </a:solidFill>
                <a:latin typeface="Malgun Gothic"/>
              </a:defRPr>
            </a:pPr>
            <a:r>
              <a:t>남성 PPV 59.2%</a:t>
            </a:r>
          </a:p>
          <a:p>
            <a:pPr>
              <a:spcAft>
                <a:spcPts val="600"/>
              </a:spcAft>
              <a:defRPr sz="2000" b="0">
                <a:solidFill>
                  <a:srgbClr val="1B1F24"/>
                </a:solidFill>
                <a:latin typeface="Malgun Gothic"/>
              </a:defRPr>
            </a:pPr>
          </a:p>
          <a:p>
            <a:pPr>
              <a:spcAft>
                <a:spcPts val="600"/>
              </a:spcAft>
              <a:defRPr sz="2000" b="0">
                <a:solidFill>
                  <a:srgbClr val="1B1F24"/>
                </a:solidFill>
                <a:latin typeface="Malgun Gothic"/>
              </a:defRPr>
            </a:pPr>
            <a:r>
              <a:t>여성은 최고 성능 앱도</a:t>
            </a:r>
          </a:p>
          <a:p>
            <a:pPr>
              <a:spcAft>
                <a:spcPts val="600"/>
              </a:spcAft>
              <a:defRPr sz="2000" b="0">
                <a:solidFill>
                  <a:srgbClr val="1B1F24"/>
                </a:solidFill>
                <a:latin typeface="Malgun Gothic"/>
              </a:defRPr>
            </a:pPr>
            <a:r>
              <a:t>PPV 18.8%</a:t>
            </a:r>
          </a:p>
          <a:p>
            <a:pPr>
              <a:spcAft>
                <a:spcPts val="600"/>
              </a:spcAft>
              <a:defRPr sz="2000" b="0">
                <a:solidFill>
                  <a:srgbClr val="1B1F24"/>
                </a:solidFill>
                <a:latin typeface="Malgun Gothic"/>
              </a:defRPr>
            </a:pPr>
            <a:r>
              <a:t>(유병률 1.1%의 결과)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B1F24"/>
                </a:solidFill>
                <a:latin typeface="Malgun Gothic"/>
              </a:defRPr>
            </a:pPr>
            <a:r>
              <a:t>결과 2 — 판 종류가 놓침을 결정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2_missed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524206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82880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1B1F24"/>
                </a:solidFill>
                <a:latin typeface="Malgun Gothic"/>
              </a:defRPr>
            </a:pPr>
            <a:r>
              <a:t>남성 1,000명당</a:t>
            </a:r>
          </a:p>
          <a:p>
            <a:pPr>
              <a:spcAft>
                <a:spcPts val="600"/>
              </a:spcAft>
              <a:defRPr sz="2200" b="0">
                <a:solidFill>
                  <a:srgbClr val="1B1F24"/>
                </a:solidFill>
                <a:latin typeface="Malgun Gothic"/>
              </a:defRPr>
            </a:pPr>
            <a:r>
              <a:t>숨은 숫자 판: 32.5명 놓침</a:t>
            </a:r>
          </a:p>
          <a:p>
            <a:pPr>
              <a:spcAft>
                <a:spcPts val="600"/>
              </a:spcAft>
              <a:defRPr sz="2200" b="0">
                <a:solidFill>
                  <a:srgbClr val="1B1F24"/>
                </a:solidFill>
                <a:latin typeface="Malgun Gothic"/>
              </a:defRPr>
            </a:pPr>
            <a:r>
              <a:t>변환+소실판: 2.9명</a:t>
            </a:r>
          </a:p>
          <a:p>
            <a:pPr>
              <a:spcAft>
                <a:spcPts val="600"/>
              </a:spcAft>
              <a:defRPr sz="2200" b="0">
                <a:solidFill>
                  <a:srgbClr val="1B1F24"/>
                </a:solidFill>
                <a:latin typeface="Malgun Gothic"/>
              </a:defRPr>
            </a:pPr>
          </a:p>
          <a:p>
            <a:pPr>
              <a:spcAft>
                <a:spcPts val="600"/>
              </a:spcAft>
              <a:defRPr sz="2200" b="0">
                <a:solidFill>
                  <a:srgbClr val="1B1F24"/>
                </a:solidFill>
                <a:latin typeface="Malgun Gothic"/>
              </a:defRPr>
            </a:pPr>
            <a:r>
              <a:t>약 11배(점추정)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B1F24"/>
                </a:solidFill>
                <a:latin typeface="Malgun Gothic"/>
              </a:defRPr>
            </a:pPr>
            <a:r>
              <a:t>한계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1B1F24"/>
                </a:solidFill>
                <a:latin typeface="Malgun Gothic"/>
              </a:defRPr>
            </a:pPr>
            <a:r>
              <a:t>• 인쇄판 특이도는 가정 · 앱 성능은 이시하라 대비(n=80)</a:t>
            </a:r>
          </a:p>
          <a:p>
            <a:pPr>
              <a:spcAft>
                <a:spcPts val="600"/>
              </a:spcAft>
              <a:defRPr sz="2200" b="0">
                <a:solidFill>
                  <a:srgbClr val="1B1F24"/>
                </a:solidFill>
                <a:latin typeface="Malgun Gothic"/>
              </a:defRPr>
            </a:pPr>
            <a:r>
              <a:t>• 유병률과 검사 성능이 서로 다른 집단에서 왔음</a:t>
            </a:r>
          </a:p>
          <a:p>
            <a:pPr>
              <a:spcAft>
                <a:spcPts val="600"/>
              </a:spcAft>
              <a:defRPr sz="2200" b="0">
                <a:solidFill>
                  <a:srgbClr val="1B1F24"/>
                </a:solidFill>
                <a:latin typeface="Malgun Gothic"/>
              </a:defRPr>
            </a:pPr>
            <a:r>
              <a:t>• 적록 결함 중심, 청황·중증도별 성능 미반영</a:t>
            </a:r>
          </a:p>
          <a:p>
            <a:pPr>
              <a:spcAft>
                <a:spcPts val="600"/>
              </a:spcAft>
              <a:defRPr sz="2200" b="0">
                <a:solidFill>
                  <a:srgbClr val="1B1F24"/>
                </a:solidFill>
                <a:latin typeface="Malgun Gothic"/>
              </a:defRPr>
            </a:pPr>
            <a:r>
              <a:t>• 화면 조건 영향은 정성적 근거만</a:t>
            </a:r>
          </a:p>
          <a:p>
            <a:pPr>
              <a:spcAft>
                <a:spcPts val="600"/>
              </a:spcAft>
              <a:defRPr sz="2200" b="0">
                <a:solidFill>
                  <a:srgbClr val="1B1F24"/>
                </a:solidFill>
                <a:latin typeface="Malgun Gothic"/>
              </a:defRPr>
            </a:pPr>
            <a:r>
              <a:t>• 5인 리뷰어 패널은 AI 시뮬레이션 자체 점검 — 외부 심사 아님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B1F24"/>
                </a:solidFill>
                <a:latin typeface="Malgun Gothic"/>
              </a:defRPr>
            </a:pPr>
            <a:r>
              <a:t>결론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0">
                <a:solidFill>
                  <a:srgbClr val="1B1F24"/>
                </a:solidFill>
                <a:latin typeface="Malgun Gothic"/>
              </a:defRPr>
            </a:pPr>
            <a:r>
              <a:t>1. '정상' 결과는 어떤 판을 썼는지 알아야 해석된다</a:t>
            </a:r>
          </a:p>
          <a:p>
            <a:pPr>
              <a:spcAft>
                <a:spcPts val="600"/>
              </a:spcAft>
              <a:defRPr sz="2400" b="0">
                <a:solidFill>
                  <a:srgbClr val="1B1F24"/>
                </a:solidFill>
                <a:latin typeface="Malgun Gothic"/>
              </a:defRPr>
            </a:pPr>
            <a:r>
              <a:t>2. '이상' 결과는 여성·저특이도 앱에서 대부분 오경보로 계산된다</a:t>
            </a:r>
          </a:p>
          <a:p>
            <a:pPr>
              <a:spcAft>
                <a:spcPts val="600"/>
              </a:spcAft>
              <a:defRPr sz="2400" b="0">
                <a:solidFill>
                  <a:srgbClr val="1B1F24"/>
                </a:solidFill>
                <a:latin typeface="Malgun Gothic"/>
              </a:defRPr>
            </a:pPr>
            <a:r>
              <a:t>3. 안내 문구: 선별용, 확진은 안과</a:t>
            </a:r>
          </a:p>
          <a:p>
            <a:pPr>
              <a:spcAft>
                <a:spcPts val="600"/>
              </a:spcAft>
              <a:defRPr sz="2400" b="0">
                <a:solidFill>
                  <a:srgbClr val="1B1F24"/>
                </a:solidFill>
                <a:latin typeface="Malgun Gothic"/>
              </a:defRPr>
            </a:pPr>
          </a:p>
          <a:p>
            <a:pPr>
              <a:spcAft>
                <a:spcPts val="600"/>
              </a:spcAft>
              <a:defRPr sz="2400" b="0">
                <a:solidFill>
                  <a:srgbClr val="1B1F24"/>
                </a:solidFill>
                <a:latin typeface="Malgun Gothic"/>
              </a:defRPr>
            </a:pPr>
            <a:r>
              <a:t>코드·데이터·리뷰: github.com/rhlfur2055-prog/cvd-screening-review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